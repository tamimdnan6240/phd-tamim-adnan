
<file path=[Content_Types].xml><?xml version="1.0" encoding="utf-8"?>
<Types xmlns="http://schemas.openxmlformats.org/package/2006/content-types">
  <Default Extension="375" ContentType="image/pn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52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3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9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07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84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4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83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43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647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67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719161-D65A-4FF4-8B5E-3E96F361B47A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37CBD-5D1F-4D81-8C80-C96A1CBDA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5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jpeg"/><Relationship Id="rId10" Type="http://schemas.openxmlformats.org/officeDocument/2006/relationships/image" Target="../media/image9.svg"/><Relationship Id="rId4" Type="http://schemas.openxmlformats.org/officeDocument/2006/relationships/image" Target="../media/image3.375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5E8E-422A-03C5-651E-F9A7CE7F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4B864D-7625-BFC8-9675-A1A0252E2B03}"/>
              </a:ext>
            </a:extLst>
          </p:cNvPr>
          <p:cNvSpPr/>
          <p:nvPr/>
        </p:nvSpPr>
        <p:spPr>
          <a:xfrm>
            <a:off x="505585" y="1741657"/>
            <a:ext cx="2624662" cy="101122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4AB56CF-D085-F58C-26EC-8E7190B0096A}"/>
              </a:ext>
            </a:extLst>
          </p:cNvPr>
          <p:cNvSpPr/>
          <p:nvPr/>
        </p:nvSpPr>
        <p:spPr>
          <a:xfrm>
            <a:off x="176591" y="1291771"/>
            <a:ext cx="8790818" cy="1708339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11C47-206D-B52C-F2E5-0F45E8F19111}"/>
              </a:ext>
            </a:extLst>
          </p:cNvPr>
          <p:cNvSpPr txBox="1"/>
          <p:nvPr/>
        </p:nvSpPr>
        <p:spPr>
          <a:xfrm>
            <a:off x="2921000" y="1375239"/>
            <a:ext cx="330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Crossing Scene Analysis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03A728-10CE-7250-EEA0-01637A8353F1}"/>
              </a:ext>
            </a:extLst>
          </p:cNvPr>
          <p:cNvSpPr txBox="1"/>
          <p:nvPr/>
        </p:nvSpPr>
        <p:spPr>
          <a:xfrm>
            <a:off x="1284365" y="1958452"/>
            <a:ext cx="1771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 Crossing Object 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DC6DC7-9EE3-84D6-D3A2-B4E4132776A2}"/>
              </a:ext>
            </a:extLst>
          </p:cNvPr>
          <p:cNvSpPr/>
          <p:nvPr/>
        </p:nvSpPr>
        <p:spPr>
          <a:xfrm>
            <a:off x="795872" y="3816294"/>
            <a:ext cx="3849913" cy="1378457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A69AB5E-393E-B074-265D-F45B6D394D49}"/>
              </a:ext>
            </a:extLst>
          </p:cNvPr>
          <p:cNvSpPr/>
          <p:nvPr/>
        </p:nvSpPr>
        <p:spPr>
          <a:xfrm>
            <a:off x="176591" y="3350922"/>
            <a:ext cx="8790818" cy="2136820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419CC-9291-95FA-751C-17AF71AEA00D}"/>
              </a:ext>
            </a:extLst>
          </p:cNvPr>
          <p:cNvSpPr txBox="1"/>
          <p:nvPr/>
        </p:nvSpPr>
        <p:spPr>
          <a:xfrm>
            <a:off x="2602899" y="3342456"/>
            <a:ext cx="3747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Comparison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5ED231-B6A6-D73C-4540-E326AB5D4ED3}"/>
              </a:ext>
            </a:extLst>
          </p:cNvPr>
          <p:cNvSpPr txBox="1"/>
          <p:nvPr/>
        </p:nvSpPr>
        <p:spPr>
          <a:xfrm>
            <a:off x="1286938" y="3830660"/>
            <a:ext cx="2363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Language Models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 Training Tasks)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76CD04B-391F-F6AA-55BF-1CC66ACC9D30}"/>
              </a:ext>
            </a:extLst>
          </p:cNvPr>
          <p:cNvSpPr/>
          <p:nvPr/>
        </p:nvSpPr>
        <p:spPr>
          <a:xfrm>
            <a:off x="4913091" y="3816294"/>
            <a:ext cx="3081863" cy="1349858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0509DB-38B1-E1BB-D9B6-5E15C7841AE0}"/>
              </a:ext>
            </a:extLst>
          </p:cNvPr>
          <p:cNvSpPr txBox="1"/>
          <p:nvPr/>
        </p:nvSpPr>
        <p:spPr>
          <a:xfrm>
            <a:off x="5314649" y="3818118"/>
            <a:ext cx="23634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(Training Task Required) 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6D26075-8A89-CA66-D117-6DF997840B41}"/>
              </a:ext>
            </a:extLst>
          </p:cNvPr>
          <p:cNvSpPr/>
          <p:nvPr/>
        </p:nvSpPr>
        <p:spPr>
          <a:xfrm>
            <a:off x="944945" y="4451737"/>
            <a:ext cx="1085544" cy="65511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8E790BE-07AF-18BB-3CEA-D6CE1CEABBB0}"/>
              </a:ext>
            </a:extLst>
          </p:cNvPr>
          <p:cNvSpPr/>
          <p:nvPr/>
        </p:nvSpPr>
        <p:spPr>
          <a:xfrm>
            <a:off x="176591" y="5900327"/>
            <a:ext cx="8790818" cy="766902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CCBF96-A231-895C-168F-3BCB423CE2B8}"/>
              </a:ext>
            </a:extLst>
          </p:cNvPr>
          <p:cNvSpPr txBox="1"/>
          <p:nvPr/>
        </p:nvSpPr>
        <p:spPr>
          <a:xfrm>
            <a:off x="595626" y="5867632"/>
            <a:ext cx="80543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Protocol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Models were evaluated on the same test images and ground truths labels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fair comparisons for each tasks </a:t>
            </a:r>
          </a:p>
        </p:txBody>
      </p:sp>
      <p:sp>
        <p:nvSpPr>
          <p:cNvPr id="70" name="Arrow: Down 69">
            <a:extLst>
              <a:ext uri="{FF2B5EF4-FFF2-40B4-BE49-F238E27FC236}">
                <a16:creationId xmlns:a16="http://schemas.microsoft.com/office/drawing/2014/main" id="{CD5827AE-E52D-A110-23DE-B906442B9BBF}"/>
              </a:ext>
            </a:extLst>
          </p:cNvPr>
          <p:cNvSpPr/>
          <p:nvPr/>
        </p:nvSpPr>
        <p:spPr>
          <a:xfrm>
            <a:off x="4430484" y="3000110"/>
            <a:ext cx="395520" cy="358553"/>
          </a:xfrm>
          <a:prstGeom prst="down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996B53AE-8DF5-DD26-6AB2-61BBDC3F0042}"/>
              </a:ext>
            </a:extLst>
          </p:cNvPr>
          <p:cNvSpPr/>
          <p:nvPr/>
        </p:nvSpPr>
        <p:spPr>
          <a:xfrm>
            <a:off x="4405086" y="5487743"/>
            <a:ext cx="420919" cy="412584"/>
          </a:xfrm>
          <a:prstGeom prst="down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0563387E-3621-FDE8-52F9-4D2F46245E66}"/>
              </a:ext>
            </a:extLst>
          </p:cNvPr>
          <p:cNvSpPr/>
          <p:nvPr/>
        </p:nvSpPr>
        <p:spPr>
          <a:xfrm>
            <a:off x="164498" y="161745"/>
            <a:ext cx="8858549" cy="771751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BFE2593-A769-87A1-6AE9-CE16FB4F6912}"/>
              </a:ext>
            </a:extLst>
          </p:cNvPr>
          <p:cNvSpPr txBox="1"/>
          <p:nvPr/>
        </p:nvSpPr>
        <p:spPr>
          <a:xfrm>
            <a:off x="1413502" y="261043"/>
            <a:ext cx="6454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RAILROAD-CROSSING IMAGE DATASET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Railroad-Crossing Images Extracted from YouTube Live Streams and Recorded Videos</a:t>
            </a:r>
          </a:p>
        </p:txBody>
      </p:sp>
      <p:sp>
        <p:nvSpPr>
          <p:cNvPr id="85" name="Arrow: Down 84">
            <a:extLst>
              <a:ext uri="{FF2B5EF4-FFF2-40B4-BE49-F238E27FC236}">
                <a16:creationId xmlns:a16="http://schemas.microsoft.com/office/drawing/2014/main" id="{0ACAF6F6-8D0F-ABB8-124D-AAF430A578CB}"/>
              </a:ext>
            </a:extLst>
          </p:cNvPr>
          <p:cNvSpPr/>
          <p:nvPr/>
        </p:nvSpPr>
        <p:spPr>
          <a:xfrm>
            <a:off x="4405085" y="933496"/>
            <a:ext cx="338668" cy="366738"/>
          </a:xfrm>
          <a:prstGeom prst="downArrow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7" name="Graphic 86" descr="Train with solid fill">
            <a:extLst>
              <a:ext uri="{FF2B5EF4-FFF2-40B4-BE49-F238E27FC236}">
                <a16:creationId xmlns:a16="http://schemas.microsoft.com/office/drawing/2014/main" id="{86CAD815-37E8-6749-8960-FB86058569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903" y="1937711"/>
            <a:ext cx="670074" cy="670074"/>
          </a:xfrm>
          <a:prstGeom prst="rect">
            <a:avLst/>
          </a:prstGeom>
        </p:spPr>
      </p:pic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AF835D00-965D-7957-6FE4-8DCD70D1A9CA}"/>
              </a:ext>
            </a:extLst>
          </p:cNvPr>
          <p:cNvSpPr/>
          <p:nvPr/>
        </p:nvSpPr>
        <p:spPr>
          <a:xfrm>
            <a:off x="3390298" y="1746469"/>
            <a:ext cx="2624662" cy="101122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E349643-5669-4F7B-D4DD-0E0F21169215}"/>
              </a:ext>
            </a:extLst>
          </p:cNvPr>
          <p:cNvSpPr txBox="1"/>
          <p:nvPr/>
        </p:nvSpPr>
        <p:spPr>
          <a:xfrm>
            <a:off x="4391030" y="1941970"/>
            <a:ext cx="1447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CE5421FF-1AD5-E901-50C3-CE8DC233E2B3}"/>
              </a:ext>
            </a:extLst>
          </p:cNvPr>
          <p:cNvSpPr/>
          <p:nvPr/>
        </p:nvSpPr>
        <p:spPr>
          <a:xfrm>
            <a:off x="6398385" y="1755508"/>
            <a:ext cx="2370057" cy="101122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C4317DB-B929-A482-9240-E33BEBA64CF6}"/>
              </a:ext>
            </a:extLst>
          </p:cNvPr>
          <p:cNvSpPr txBox="1"/>
          <p:nvPr/>
        </p:nvSpPr>
        <p:spPr>
          <a:xfrm>
            <a:off x="7160723" y="1924418"/>
            <a:ext cx="1447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Intensity </a:t>
            </a:r>
          </a:p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</a:p>
        </p:txBody>
      </p:sp>
      <p:pic>
        <p:nvPicPr>
          <p:cNvPr id="105" name="Graphic 104" descr="Car with solid fill">
            <a:extLst>
              <a:ext uri="{FF2B5EF4-FFF2-40B4-BE49-F238E27FC236}">
                <a16:creationId xmlns:a16="http://schemas.microsoft.com/office/drawing/2014/main" id="{23196EEF-8942-D797-509A-4821DC8E65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4518" y="1840905"/>
            <a:ext cx="748718" cy="748718"/>
          </a:xfrm>
          <a:prstGeom prst="rect">
            <a:avLst/>
          </a:prstGeom>
        </p:spPr>
      </p:pic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B2CDF404-01EA-FECE-8F55-A3DDF1D0006D}"/>
              </a:ext>
            </a:extLst>
          </p:cNvPr>
          <p:cNvSpPr/>
          <p:nvPr/>
        </p:nvSpPr>
        <p:spPr>
          <a:xfrm>
            <a:off x="2194989" y="4429093"/>
            <a:ext cx="1085544" cy="65511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</a:p>
        </p:txBody>
      </p:sp>
      <p:pic>
        <p:nvPicPr>
          <p:cNvPr id="114" name="Picture 113" descr="Here's OpenAI's new logo | The Verge">
            <a:extLst>
              <a:ext uri="{FF2B5EF4-FFF2-40B4-BE49-F238E27FC236}">
                <a16:creationId xmlns:a16="http://schemas.microsoft.com/office/drawing/2014/main" id="{3588D16A-AA85-1911-8CDB-6B6B95B2BB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841" t="11824" r="21991" b="7964"/>
          <a:stretch>
            <a:fillRect/>
          </a:stretch>
        </p:blipFill>
        <p:spPr>
          <a:xfrm>
            <a:off x="2568660" y="4477419"/>
            <a:ext cx="402232" cy="398807"/>
          </a:xfrm>
          <a:prstGeom prst="rect">
            <a:avLst/>
          </a:prstGeom>
        </p:spPr>
      </p:pic>
      <p:pic>
        <p:nvPicPr>
          <p:cNvPr id="115" name="Picture 114" descr="Google Gemini Icon &amp; Logo | Dashboard Icons &amp; Logos">
            <a:extLst>
              <a:ext uri="{FF2B5EF4-FFF2-40B4-BE49-F238E27FC236}">
                <a16:creationId xmlns:a16="http://schemas.microsoft.com/office/drawing/2014/main" id="{7412A79D-A010-A908-83FF-644957061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5918" y="4487366"/>
            <a:ext cx="397870" cy="397870"/>
          </a:xfrm>
          <a:prstGeom prst="rect">
            <a:avLst/>
          </a:prstGeom>
        </p:spPr>
      </p:pic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2C9549B-B1F7-75AC-BE6D-BD06811B6564}"/>
              </a:ext>
            </a:extLst>
          </p:cNvPr>
          <p:cNvSpPr/>
          <p:nvPr/>
        </p:nvSpPr>
        <p:spPr>
          <a:xfrm>
            <a:off x="3373673" y="4408665"/>
            <a:ext cx="1085544" cy="65511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</a:p>
        </p:txBody>
      </p:sp>
      <p:pic>
        <p:nvPicPr>
          <p:cNvPr id="120" name="Graphic 119" descr="Claude Logo Vector Logo SVG - Free Download | Worldvectorlogo">
            <a:extLst>
              <a:ext uri="{FF2B5EF4-FFF2-40B4-BE49-F238E27FC236}">
                <a16:creationId xmlns:a16="http://schemas.microsoft.com/office/drawing/2014/main" id="{A83C96F4-D8DE-95C3-1670-24F2487A9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2166" y="4505521"/>
            <a:ext cx="313422" cy="313422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5935BA0F-B23B-D81F-8B6F-DC75072B4CDA}"/>
              </a:ext>
            </a:extLst>
          </p:cNvPr>
          <p:cNvSpPr/>
          <p:nvPr/>
        </p:nvSpPr>
        <p:spPr>
          <a:xfrm>
            <a:off x="5116290" y="4392210"/>
            <a:ext cx="1085544" cy="65511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B97F8B46-2432-B1D5-A097-784A4B469778}"/>
              </a:ext>
            </a:extLst>
          </p:cNvPr>
          <p:cNvSpPr/>
          <p:nvPr/>
        </p:nvSpPr>
        <p:spPr>
          <a:xfrm>
            <a:off x="6724548" y="4408665"/>
            <a:ext cx="1085544" cy="655113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</a:p>
        </p:txBody>
      </p:sp>
      <p:pic>
        <p:nvPicPr>
          <p:cNvPr id="131" name="Graphic 130" descr="Database with solid fill">
            <a:extLst>
              <a:ext uri="{FF2B5EF4-FFF2-40B4-BE49-F238E27FC236}">
                <a16:creationId xmlns:a16="http://schemas.microsoft.com/office/drawing/2014/main" id="{45CD3A21-2FE2-D5A9-4B8F-2F4C2093A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586" y="221297"/>
            <a:ext cx="719661" cy="719661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8D99C6E3-7CCF-C729-D8A7-84D0AF8F45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8" t="16311" r="19398" b="33557"/>
          <a:stretch>
            <a:fillRect/>
          </a:stretch>
        </p:blipFill>
        <p:spPr>
          <a:xfrm>
            <a:off x="6964428" y="4463612"/>
            <a:ext cx="625397" cy="348101"/>
          </a:xfrm>
          <a:prstGeom prst="rect">
            <a:avLst/>
          </a:prstGeom>
        </p:spPr>
      </p:pic>
      <p:pic>
        <p:nvPicPr>
          <p:cNvPr id="135" name="Graphic 134" descr="Bar chart with solid fill">
            <a:extLst>
              <a:ext uri="{FF2B5EF4-FFF2-40B4-BE49-F238E27FC236}">
                <a16:creationId xmlns:a16="http://schemas.microsoft.com/office/drawing/2014/main" id="{1C27A579-58A4-26CE-5CDD-B814772F8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5627" y="5963332"/>
            <a:ext cx="736593" cy="736593"/>
          </a:xfrm>
          <a:prstGeom prst="rect">
            <a:avLst/>
          </a:prstGeom>
        </p:spPr>
      </p:pic>
      <p:pic>
        <p:nvPicPr>
          <p:cNvPr id="139" name="Graphic 138" descr="Brain with solid fill">
            <a:extLst>
              <a:ext uri="{FF2B5EF4-FFF2-40B4-BE49-F238E27FC236}">
                <a16:creationId xmlns:a16="http://schemas.microsoft.com/office/drawing/2014/main" id="{305086A9-EF57-A239-08A2-AC1B15BD5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9845" y="4391990"/>
            <a:ext cx="457200" cy="457200"/>
          </a:xfrm>
          <a:prstGeom prst="rect">
            <a:avLst/>
          </a:prstGeom>
        </p:spPr>
      </p:pic>
      <p:pic>
        <p:nvPicPr>
          <p:cNvPr id="141" name="Graphic 140" descr="Books on shelf with solid fill">
            <a:extLst>
              <a:ext uri="{FF2B5EF4-FFF2-40B4-BE49-F238E27FC236}">
                <a16:creationId xmlns:a16="http://schemas.microsoft.com/office/drawing/2014/main" id="{E4F9A9E3-DCC4-621B-808D-7174553A0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96354" y="1898383"/>
            <a:ext cx="633762" cy="63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3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</TotalTime>
  <Words>73</Words>
  <Application>Microsoft Office PowerPoint</Application>
  <PresentationFormat>On-screen Show (4:3)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tadnan</dc:creator>
  <cp:lastModifiedBy>tadnan</cp:lastModifiedBy>
  <cp:revision>42</cp:revision>
  <dcterms:created xsi:type="dcterms:W3CDTF">2026-08-15T18:46:50Z</dcterms:created>
  <dcterms:modified xsi:type="dcterms:W3CDTF">2026-08-15T21:19:49Z</dcterms:modified>
</cp:coreProperties>
</file>